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2353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Indicații pentru student: acest slide spune unde ești. Întrebarea rămâne aceeași toate 14 săptămânile; dacă o schimbi, spune explicit că ai pivotat și de 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Indicații pentru student: dacă nu ai o figură sau un tabel, nu ai dovadă. O figură cu baseline-ul lipsă nu se punctează.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Indicații pentru student: un plan e verificabil dacă la checkpoint-ul următor se poate spune da sau nu pentru fiecare rând.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4393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767830"/>
            <a:ext cx="10566400" cy="4277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4393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767830"/>
            <a:ext cx="10566400" cy="4277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12648" y="8961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688"/>
              </a:lnSpc>
              <a:buNone/>
            </a:pPr>
            <a:r>
              <a:rPr lang="en-US" sz="2400" b="1" i="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David Gradea · A7 · AgriTwin — segmentare parcele PASTIS-R → RO</a:t>
            </a:r>
            <a:endParaRPr lang="en-US" sz="3000" dirty="0"/>
          </a:p>
        </p:txBody>
      </p:sp>
      <p:sp>
        <p:nvSpPr>
          <p:cNvPr id="4" name="TextBox 3"/>
          <p:cNvSpPr txBox="1"/>
          <p:nvPr/>
        </p:nvSpPr>
        <p:spPr>
          <a:xfrm>
            <a:off x="612648" y="4572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spc="150">
                <a:solidFill>
                  <a:srgbClr val="C8702A"/>
                </a:solidFill>
                <a:latin typeface="IBM Plex Sans"/>
              </a:rPr>
              <a:t>IC3 · CP1 · OBSERVAȚII · SĂPTĂMÂNA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645920"/>
            <a:ext cx="5532120" cy="2377440"/>
          </a:xfrm>
          <a:prstGeom prst="roundRect">
            <a:avLst>
              <a:gd name="adj" fmla="val 2000"/>
            </a:avLst>
          </a:prstGeom>
          <a:solidFill>
            <a:srgbClr val="E9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51206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1B2A41"/>
                </a:solidFill>
                <a:latin typeface="IBM Plex Sans"/>
              </a:rPr>
              <a:t>Întrebarea mea</a:t>
            </a:r>
          </a:p>
          <a:p>
            <a:pPr>
              <a:spcAft>
                <a:spcPts val="800"/>
              </a:spcAft>
            </a:pPr>
            <a:r>
              <a:rPr sz="1150" b="0">
                <a:solidFill>
                  <a:srgbClr val="4A5568"/>
                </a:solidFill>
                <a:latin typeface="IBM Plex Sans"/>
              </a:rPr>
              <a:t>Cât din acuratețea unui model de segmentare a culturilor antrenat pe Franța (PASTIS-R) se păstrează pe parcele românești când am doar câteva zeci de parcele etichetate local?</a:t>
            </a:r>
          </a:p>
          <a:p>
            <a:pPr>
              <a:spcAft>
                <a:spcPts val="0"/>
              </a:spcAft>
            </a:pPr>
            <a:r>
              <a:rPr sz="1150" b="1">
                <a:solidFill>
                  <a:srgbClr val="1B2A41"/>
                </a:solidFill>
                <a:latin typeface="IBM Plex Sans"/>
              </a:rPr>
              <a:t>Clientul și decizia: </a:t>
            </a:r>
            <a:r>
              <a:rPr sz="1150" b="0">
                <a:solidFill>
                  <a:srgbClr val="4A5568"/>
                </a:solidFill>
                <a:latin typeface="IBM Plex Sans"/>
              </a:rPr>
              <a:t>APIA (inspectorul de control) → ce parcele selectează pentru verificare pe teren: cele unde cultura detectată nu se potrivește cu declarația fermierului.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45920"/>
            <a:ext cx="5221224" cy="2377440"/>
          </a:xfrm>
          <a:prstGeom prst="roundRect">
            <a:avLst>
              <a:gd name="adj" fmla="val 2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800600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D9A66C"/>
                </a:solidFill>
                <a:latin typeface="IBM Plex Sans"/>
              </a:rPr>
              <a:t>Unde am ajuns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6F4EE"/>
                </a:solidFill>
                <a:latin typeface="IBM Plex Sans"/>
              </a:rPr>
              <a:t>Strat curent: </a:t>
            </a:r>
            <a:r>
              <a:rPr sz="1100" b="0">
                <a:solidFill>
                  <a:srgbClr val="F6F4EE"/>
                </a:solidFill>
                <a:latin typeface="IBM Plex Sans"/>
              </a:rPr>
              <a:t>Observații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6F4EE"/>
                </a:solidFill>
                <a:latin typeface="IBM Plex Sans"/>
              </a:rPr>
              <a:t>Făcut de la CP0: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F6F4EE"/>
                </a:solidFill>
                <a:latin typeface="IBM Plex Sans"/>
              </a:rPr>
              <a:t>① PASTIS-R descărcat și verificat: 2.433 patch-uri, 0 fișiere lipsă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F6F4EE"/>
                </a:solidFill>
                <a:latin typeface="IBM Plex Sans"/>
              </a:rPr>
              <a:t>② Pipeline de ingestie rulat → curbe NDVI pe 10 clase comune FR/RO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F6F4EE"/>
                </a:solidFill>
                <a:latin typeface="IBM Plex Sans"/>
              </a:rPr>
              <a:t>③ Script GEE pentru seria S2 RO + data card + tabel SOA (10 articole)</a:t>
            </a:r>
          </a:p>
          <a:p>
            <a:pPr>
              <a:spcAft>
                <a:spcPts val="0"/>
              </a:spcAft>
            </a:pPr>
            <a:r>
              <a:rPr sz="1100" b="1">
                <a:solidFill>
                  <a:srgbClr val="F6F4EE"/>
                </a:solidFill>
                <a:latin typeface="IBM Plex Sans"/>
              </a:rPr>
              <a:t>Schimbat față de plan: </a:t>
            </a:r>
            <a:r>
              <a:rPr sz="1050" b="0">
                <a:solidFill>
                  <a:srgbClr val="BFC9D9"/>
                </a:solidFill>
                <a:latin typeface="IBM Plex Sans"/>
              </a:rPr>
              <a:t>curba RO din figură vine după exportul GEE și primele parcele etichetate (CP2).</a:t>
            </a:r>
          </a:p>
        </p:txBody>
      </p:sp>
      <p:pic>
        <p:nvPicPr>
          <p:cNvPr id="9" name="Picture 8" descr="a7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24528"/>
            <a:ext cx="10241280" cy="17673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" y="6053328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6A7179"/>
                </a:solidFill>
                <a:latin typeface="IBM Plex Sans"/>
              </a:rPr>
              <a:t>Ieșirea pipeline-ului: NDVI median fără nori pe clasă, 300 de patch-uri PASTIS-R (Franța, sep. 2018 – oct. 2019), agregat pe decade. Fenologia diferă clar între culturi → baza transferului FR → 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A7179"/>
                </a:solidFill>
                <a:latin typeface="IBM Plex Sans"/>
              </a:rPr>
              <a:t>Slide 1 din 3 · Fișier Moodle: CP1_A7.pdf + datacard_A7.md · Prezentare: 3 minute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12648" y="8961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64"/>
              </a:lnSpc>
              <a:buNone/>
            </a:pPr>
            <a:r>
              <a:rPr lang="en-US" sz="2200" b="1" i="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S1+S2 aduce +3,2 mIoU pe PASTIS-R; fără adaptare, transferul pierde 19 pp F1</a:t>
            </a:r>
            <a:endParaRPr lang="en-US" sz="3000" dirty="0"/>
          </a:p>
        </p:txBody>
      </p:sp>
      <p:sp>
        <p:nvSpPr>
          <p:cNvPr id="4" name="TextBox 3"/>
          <p:cNvSpPr txBox="1"/>
          <p:nvPr/>
        </p:nvSpPr>
        <p:spPr>
          <a:xfrm>
            <a:off x="612648" y="4572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spc="150">
                <a:solidFill>
                  <a:srgbClr val="C8702A"/>
                </a:solidFill>
                <a:latin typeface="IBM Plex Sans"/>
              </a:rPr>
              <a:t>DOVADA STRATULUI · CP1: DATA CARD + TABEL SOA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544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B2A41"/>
                </a:solidFill>
                <a:latin typeface="IBM Plex Sans"/>
              </a:rPr>
              <a:t>Data card (detalii în datacard_A7.md)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648" y="1783080"/>
          <a:ext cx="4572000" cy="29626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D9A66C"/>
                          </a:solidFill>
                          <a:latin typeface="IBM Plex Sans"/>
                        </a:rPr>
                        <a:t>Câmp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D9A66C"/>
                          </a:solidFill>
                          <a:latin typeface="IBM Plex Sans"/>
                        </a:rPr>
                        <a:t>PASTIS-R · sursă FR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D9A66C"/>
                          </a:solidFill>
                          <a:latin typeface="IBM Plex Sans"/>
                        </a:rPr>
                        <a:t>S2 România · țintă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  <a:latin typeface="IBM Plex Sans"/>
                        </a:rPr>
                        <a:t>Sursă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Zenodo 10.5281/zenodo.5735646 (54 GB)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GEE: S2_SR_HARMONIZED + Cloud Score+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  <a:latin typeface="IBM Plex Sans"/>
                        </a:rPr>
                        <a:t>Perioadă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S2: 17.09.2018 – 27.10.2019; S1 idem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sezon sep. 2023 – oct. 2024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  <a:latin typeface="IBM Plex Sans"/>
                        </a:rPr>
                        <a:t>Rezoluție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10 m, patch 128×128 px; S2: 38–61 date, S1: ~70 date / orbită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10 m; revizitare S2 ~5 zile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  <a:latin typeface="IBM Plex Sans"/>
                        </a:rPr>
                        <a:t>Unități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S2 reflectanță ×10⁴ (10 benzi); S1 dB (VV, VH, VV/VH)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reflectanță ×10⁴; cs_cdf 0–1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  <a:latin typeface="IBM Plex Sans"/>
                        </a:rPr>
                        <a:t>Eșantioane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2.433 patch-uri, 4 tile-uri FR; 18 culturi + fundal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zonă 10×10 km (sud de București)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  <a:latin typeface="IBM Plex Sans"/>
                        </a:rPr>
                        <a:t>Goluri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fără mască de nori (~15% pixeli B2&gt;0,2); void 9,6%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nori (Cloud Score+); fără etichete publice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  <a:latin typeface="IBM Plex Sans"/>
                        </a:rPr>
                        <a:t>Train / test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5 fold-uri spațiale: 1455 / 482 / 496 (conf. I)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doar test (+ fine-tuning pe k parcele)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  <a:latin typeface="IBM Plex Sans"/>
                        </a:rPr>
                        <a:t>Licență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CC BY 4.0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Copernicus (gratuit, cu atribuire)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94960" y="1554480"/>
            <a:ext cx="6217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B2A41"/>
                </a:solidFill>
                <a:latin typeface="IBM Plex Sans"/>
              </a:rPr>
              <a:t>Tabel SOA — 10 articole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94960" y="1783080"/>
          <a:ext cx="6190488" cy="32387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4436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D9A66C"/>
                          </a:solidFill>
                          <a:latin typeface="IBM Plex Sans"/>
                        </a:rPr>
                        <a:t>Articol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D9A66C"/>
                          </a:solidFill>
                          <a:latin typeface="IBM Plex Sans"/>
                        </a:rPr>
                        <a:t>Metodă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D9A66C"/>
                          </a:solidFill>
                          <a:latin typeface="IBM Plex Sans"/>
                        </a:rPr>
                        <a:t>Date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D9A66C"/>
                          </a:solidFill>
                          <a:latin typeface="IBM Plex Sans"/>
                        </a:rPr>
                        <a:t>Metrică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D9A66C"/>
                          </a:solidFill>
                          <a:latin typeface="IBM Plex Sans"/>
                        </a:rPr>
                        <a:t>Rezultat</a:t>
                      </a:r>
                    </a:p>
                  </a:txBody>
                  <a:tcPr marL="54864" marR="54864" marT="22860" marB="22860" anchor="ctr"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436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1B2A41"/>
                          </a:solidFill>
                          <a:latin typeface="IBM Plex Sans"/>
                        </a:rPr>
                        <a:t>Garnot 2020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PSE+TAE, clasificare parcele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S2, FR, 191.703 parcele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OA / mIoU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94,2 / 50,9 (RF: 91,6 / 32,5)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436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1B2A41"/>
                          </a:solidFill>
                          <a:latin typeface="IBM Plex Sans"/>
                        </a:rPr>
                        <a:t>Rußwurm 2020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Transformer vs. RF, date brute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S2, Bavaria 2018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OA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0,85 vs. 0,83 (brut: 0,80 vs. 0,71)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436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1B2A41"/>
                          </a:solidFill>
                          <a:latin typeface="IBM Plex Sans"/>
                        </a:rPr>
                        <a:t>Garnot 2021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U-TAE, segmentare + panoptic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PASTIS (S2)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mIoU / PQ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63,1 / 40,4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436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1B2A41"/>
                          </a:solidFill>
                          <a:latin typeface="IBM Plex Sans"/>
                        </a:rPr>
                        <a:t>Garnot 2022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Fuziune S1+S2 (early/late)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PASTIS-R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mIoU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S2 63,1 → late fusion 66,3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436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1B2A41"/>
                          </a:solidFill>
                          <a:latin typeface="IBM Plex Sans"/>
                        </a:rPr>
                        <a:t>Tarasiou 2023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TSViT (transformer spațio-temp.)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PASTIS (S2)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mIoU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65,4 (U-TAE 63,1)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436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1B2A41"/>
                          </a:solidFill>
                          <a:latin typeface="IBM Plex Sans"/>
                        </a:rPr>
                        <a:t>Nyborg 2022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TimeMatch: adaptare între regiuni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S2, FR/DK/AT 2017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F1 macro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39,2 → 58,2 (FR1→DK1: 24,9 → 52,1)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436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1B2A41"/>
                          </a:solidFill>
                          <a:latin typeface="IBM Plex Sans"/>
                        </a:rPr>
                        <a:t>Marsocci 2024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PANGAEA: GFM vs. supervizat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PASTIS-R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mIoU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ViT 38,5 &gt; S12-DINO 36,2; 10% etichete: 38,4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4436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1B2A41"/>
                          </a:solidFill>
                          <a:latin typeface="IBM Plex Sans"/>
                        </a:rPr>
                        <a:t>Jakubik 2023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Prithvi (ViT MAE) fine-tuning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HLS, SUA, 13 clase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mIoU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0,426 vs. U-Net 0,420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4436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1B2A41"/>
                          </a:solidFill>
                          <a:latin typeface="IBM Plex Sans"/>
                        </a:rPr>
                        <a:t>Tseng 2023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Presto, pre-antrenat pe pixeli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CropHarvest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F1 mediu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0,835 (RF 0,441)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4436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1B2A41"/>
                          </a:solidFill>
                          <a:latin typeface="IBM Plex Sans"/>
                        </a:rPr>
                        <a:t>Băicoianu 2025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DACIA5: ResNet18 vs. RF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S1+S2, Brașov 2020–24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OA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B2A41"/>
                          </a:solidFill>
                          <a:latin typeface="IBM Plex Sans"/>
                        </a:rPr>
                        <a:t>62,7% vs. 49,6% (test pe 2024)</a:t>
                      </a:r>
                    </a:p>
                  </a:txBody>
                  <a:tcPr marL="54864" marR="54864" marT="22860" marB="22860" anchor="ctr">
                    <a:solidFill>
                      <a:srgbClr val="E9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2648" y="4892040"/>
            <a:ext cx="4572000" cy="1325880"/>
          </a:xfrm>
          <a:prstGeom prst="roundRect">
            <a:avLst>
              <a:gd name="adj" fmla="val 2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4251960" cy="682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150" b="1" dirty="0">
                <a:solidFill>
                  <a:srgbClr val="D9A66C"/>
                </a:solidFill>
                <a:latin typeface="IBM Plex Sans"/>
              </a:rPr>
              <a:t>Cum se </a:t>
            </a:r>
            <a:r>
              <a:rPr sz="1150" b="1" dirty="0" err="1">
                <a:solidFill>
                  <a:srgbClr val="D9A66C"/>
                </a:solidFill>
                <a:latin typeface="IBM Plex Sans"/>
              </a:rPr>
              <a:t>verifică</a:t>
            </a:r>
            <a:endParaRPr sz="1150" b="1" dirty="0">
              <a:solidFill>
                <a:srgbClr val="D9A66C"/>
              </a:solidFill>
              <a:latin typeface="IBM Plex Sans"/>
            </a:endParaRPr>
          </a:p>
          <a:p>
            <a:pPr>
              <a:spcAft>
                <a:spcPts val="200"/>
              </a:spcAft>
            </a:pPr>
            <a:r>
              <a:rPr sz="900" b="1" dirty="0">
                <a:solidFill>
                  <a:srgbClr val="F6F4EE"/>
                </a:solidFill>
                <a:latin typeface="IBM Plex Sans"/>
              </a:rPr>
              <a:t>Repo: </a:t>
            </a:r>
            <a:r>
              <a:rPr sz="900" b="0" dirty="0">
                <a:solidFill>
                  <a:srgbClr val="D9A66C"/>
                </a:solidFill>
                <a:latin typeface="IBM Plex Sans"/>
              </a:rPr>
              <a:t>github.com/</a:t>
            </a:r>
            <a:r>
              <a:rPr sz="900" b="0" dirty="0" err="1">
                <a:solidFill>
                  <a:srgbClr val="D9A66C"/>
                </a:solidFill>
                <a:latin typeface="IBM Plex Sans"/>
              </a:rPr>
              <a:t>davidgradea</a:t>
            </a:r>
            <a:r>
              <a:rPr sz="900" b="0" dirty="0">
                <a:solidFill>
                  <a:srgbClr val="D9A66C"/>
                </a:solidFill>
                <a:latin typeface="IBM Plex Sans"/>
              </a:rPr>
              <a:t>/ic3</a:t>
            </a:r>
          </a:p>
          <a:p>
            <a:pPr>
              <a:spcAft>
                <a:spcPts val="200"/>
              </a:spcAft>
            </a:pPr>
            <a:r>
              <a:rPr sz="900" b="1" dirty="0" err="1">
                <a:solidFill>
                  <a:srgbClr val="F6F4EE"/>
                </a:solidFill>
                <a:latin typeface="IBM Plex Sans"/>
              </a:rPr>
              <a:t>Rulare</a:t>
            </a:r>
            <a:r>
              <a:rPr sz="900" b="1" dirty="0">
                <a:solidFill>
                  <a:srgbClr val="F6F4EE"/>
                </a:solidFill>
                <a:latin typeface="IBM Plex Sans"/>
              </a:rPr>
              <a:t>: </a:t>
            </a:r>
            <a:r>
              <a:rPr sz="850" b="0" dirty="0">
                <a:solidFill>
                  <a:srgbClr val="BFC9D9"/>
                </a:solidFill>
                <a:latin typeface="IBM Plex Sans"/>
              </a:rPr>
              <a:t>python src/verify_pastis.py --root PASTIS-R</a:t>
            </a:r>
          </a:p>
          <a:p>
            <a:pPr>
              <a:spcAft>
                <a:spcPts val="200"/>
              </a:spcAft>
            </a:pPr>
            <a:r>
              <a:rPr sz="900" b="1" dirty="0">
                <a:solidFill>
                  <a:srgbClr val="F6F4EE"/>
                </a:solidFill>
                <a:latin typeface="IBM Plex Sans"/>
              </a:rPr>
              <a:t>Ieșire: </a:t>
            </a:r>
            <a:r>
              <a:rPr sz="850" b="0" dirty="0">
                <a:solidFill>
                  <a:srgbClr val="BFC9D9"/>
                </a:solidFill>
                <a:latin typeface="IBM Plex Sans"/>
              </a:rPr>
              <a:t>2.433/2.433 patch-</a:t>
            </a:r>
            <a:r>
              <a:rPr sz="850" b="0" dirty="0" err="1">
                <a:solidFill>
                  <a:srgbClr val="BFC9D9"/>
                </a:solidFill>
                <a:latin typeface="IBM Plex Sans"/>
              </a:rPr>
              <a:t>uri</a:t>
            </a:r>
            <a:r>
              <a:rPr sz="850" b="0" dirty="0">
                <a:solidFill>
                  <a:srgbClr val="BFC9D9"/>
                </a:solidFill>
                <a:latin typeface="IBM Plex Sans"/>
              </a:rPr>
              <a:t> complete; 35 S2 </a:t>
            </a:r>
            <a:r>
              <a:rPr sz="850" b="0" dirty="0" err="1">
                <a:solidFill>
                  <a:srgbClr val="BFC9D9"/>
                </a:solidFill>
                <a:latin typeface="IBM Plex Sans"/>
              </a:rPr>
              <a:t>fără</a:t>
            </a:r>
            <a:r>
              <a:rPr sz="850" b="0" dirty="0">
                <a:solidFill>
                  <a:srgbClr val="BFC9D9"/>
                </a:solidFill>
                <a:latin typeface="IBM Plex Sans"/>
              </a:rPr>
              <a:t> </a:t>
            </a:r>
            <a:r>
              <a:rPr sz="850" b="0" dirty="0" err="1">
                <a:solidFill>
                  <a:srgbClr val="BFC9D9"/>
                </a:solidFill>
                <a:latin typeface="IBM Plex Sans"/>
              </a:rPr>
              <a:t>etichete</a:t>
            </a:r>
            <a:r>
              <a:rPr sz="850" b="0" dirty="0">
                <a:solidFill>
                  <a:srgbClr val="BFC9D9"/>
                </a:solidFill>
                <a:latin typeface="IBM Plex Sans"/>
              </a:rPr>
              <a:t> </a:t>
            </a:r>
            <a:r>
              <a:rPr sz="850" b="0" dirty="0" err="1">
                <a:solidFill>
                  <a:srgbClr val="BFC9D9"/>
                </a:solidFill>
                <a:latin typeface="IBM Plex Sans"/>
              </a:rPr>
              <a:t>excluse</a:t>
            </a:r>
            <a:endParaRPr sz="850" b="0" dirty="0">
              <a:solidFill>
                <a:srgbClr val="BFC9D9"/>
              </a:solidFill>
              <a:latin typeface="IBM Plex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A7179"/>
                </a:solidFill>
                <a:latin typeface="IBM Plex Sans"/>
              </a:rPr>
              <a:t>Slide 2 din 3 · Rezultatele SOA sunt cele raportate de autori, pe seturi și metrici diferite — nu sunt direct comparabile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12648" y="8961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688"/>
              </a:lnSpc>
              <a:buNone/>
            </a:pPr>
            <a:r>
              <a:rPr lang="en-US" sz="2400" b="1" i="0" dirty="0" err="1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Blocaje și următorii pași la CP2</a:t>
            </a:r>
            <a:endParaRPr lang="en-US" sz="3000" dirty="0"/>
          </a:p>
        </p:txBody>
      </p:sp>
      <p:sp>
        <p:nvSpPr>
          <p:cNvPr id="4" name="TextBox 3"/>
          <p:cNvSpPr txBox="1"/>
          <p:nvPr/>
        </p:nvSpPr>
        <p:spPr>
          <a:xfrm>
            <a:off x="612648" y="4572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spc="150">
                <a:solidFill>
                  <a:srgbClr val="C8702A"/>
                </a:solidFill>
                <a:latin typeface="IBM Plex Sans"/>
              </a:rPr>
              <a:t>BLOCAJE ȘI URMĂTOARELE DOUĂ SĂPTĂMÂNI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691640"/>
            <a:ext cx="5532120" cy="3383280"/>
          </a:xfrm>
          <a:prstGeom prst="roundRect">
            <a:avLst>
              <a:gd name="adj" fmla="val 2000"/>
            </a:avLst>
          </a:prstGeom>
          <a:solidFill>
            <a:srgbClr val="E9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874519"/>
            <a:ext cx="5120640" cy="1459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1" dirty="0" err="1">
                <a:solidFill>
                  <a:srgbClr val="1B2A41"/>
                </a:solidFill>
                <a:latin typeface="IBM Plex Sans"/>
              </a:rPr>
              <a:t>Blocaje</a:t>
            </a:r>
            <a:endParaRPr sz="1600" b="1" dirty="0">
              <a:solidFill>
                <a:srgbClr val="1B2A41"/>
              </a:solidFill>
              <a:latin typeface="IBM Plex Sans"/>
            </a:endParaRPr>
          </a:p>
          <a:p>
            <a:pPr>
              <a:spcAft>
                <a:spcPts val="400"/>
              </a:spcAft>
            </a:pPr>
            <a:r>
              <a:rPr sz="1250" b="1" dirty="0">
                <a:solidFill>
                  <a:srgbClr val="1B2A41"/>
                </a:solidFill>
                <a:latin typeface="IBM Plex Sans"/>
              </a:rPr>
              <a:t>1. Nu </a:t>
            </a:r>
            <a:r>
              <a:rPr sz="1250" b="1" dirty="0" err="1">
                <a:solidFill>
                  <a:srgbClr val="1B2A41"/>
                </a:solidFill>
                <a:latin typeface="IBM Plex Sans"/>
              </a:rPr>
              <a:t>există</a:t>
            </a:r>
            <a:r>
              <a:rPr sz="1250" b="1" dirty="0">
                <a:solidFill>
                  <a:srgbClr val="1B2A41"/>
                </a:solidFill>
                <a:latin typeface="IBM Plex Sans"/>
              </a:rPr>
              <a:t> </a:t>
            </a:r>
            <a:r>
              <a:rPr sz="1250" b="1" dirty="0" err="1">
                <a:solidFill>
                  <a:srgbClr val="1B2A41"/>
                </a:solidFill>
                <a:latin typeface="IBM Plex Sans"/>
              </a:rPr>
              <a:t>etichete</a:t>
            </a:r>
            <a:r>
              <a:rPr sz="1250" b="1" dirty="0">
                <a:solidFill>
                  <a:srgbClr val="1B2A41"/>
                </a:solidFill>
                <a:latin typeface="IBM Plex Sans"/>
              </a:rPr>
              <a:t> RO </a:t>
            </a:r>
            <a:r>
              <a:rPr sz="1250" b="1" dirty="0" err="1">
                <a:solidFill>
                  <a:srgbClr val="1B2A41"/>
                </a:solidFill>
                <a:latin typeface="IBM Plex Sans"/>
              </a:rPr>
              <a:t>publice</a:t>
            </a:r>
            <a:r>
              <a:rPr sz="1250" b="1" dirty="0">
                <a:solidFill>
                  <a:srgbClr val="1B2A41"/>
                </a:solidFill>
                <a:latin typeface="IBM Plex Sans"/>
              </a:rPr>
              <a:t> </a:t>
            </a:r>
            <a:r>
              <a:rPr sz="1250" b="0" dirty="0">
                <a:solidFill>
                  <a:srgbClr val="4A5568"/>
                </a:solidFill>
                <a:latin typeface="IBM Plex Sans"/>
              </a:rPr>
              <a:t>(LPIS-ul APIA nu e </a:t>
            </a:r>
            <a:r>
              <a:rPr sz="1250" b="0" dirty="0" err="1">
                <a:solidFill>
                  <a:srgbClr val="4A5568"/>
                </a:solidFill>
                <a:latin typeface="IBM Plex Sans"/>
              </a:rPr>
              <a:t>deschis</a:t>
            </a:r>
            <a:r>
              <a:rPr sz="1250" b="0" dirty="0">
                <a:solidFill>
                  <a:srgbClr val="4A5568"/>
                </a:solidFill>
                <a:latin typeface="IBM Plex Sans"/>
              </a:rPr>
              <a:t>).</a:t>
            </a:r>
          </a:p>
          <a:p>
            <a:pPr>
              <a:spcAft>
                <a:spcPts val="400"/>
              </a:spcAft>
            </a:pPr>
            <a:r>
              <a:rPr sz="1150" b="0" dirty="0">
                <a:solidFill>
                  <a:srgbClr val="4A5568"/>
                </a:solidFill>
                <a:latin typeface="IBM Plex Sans"/>
              </a:rPr>
              <a:t>→ </a:t>
            </a:r>
            <a:r>
              <a:rPr sz="1150" b="0" dirty="0" err="1">
                <a:solidFill>
                  <a:srgbClr val="4A5568"/>
                </a:solidFill>
                <a:latin typeface="IBM Plex Sans"/>
              </a:rPr>
              <a:t>Încerc</a:t>
            </a:r>
            <a:r>
              <a:rPr sz="1150" b="0" dirty="0">
                <a:solidFill>
                  <a:srgbClr val="4A5568"/>
                </a:solidFill>
                <a:latin typeface="IBM Plex Sans"/>
              </a:rPr>
              <a:t>: </a:t>
            </a:r>
            <a:r>
              <a:rPr sz="1150" b="0" dirty="0" err="1">
                <a:solidFill>
                  <a:srgbClr val="4A5568"/>
                </a:solidFill>
                <a:latin typeface="IBM Plex Sans"/>
              </a:rPr>
              <a:t>etichetez</a:t>
            </a:r>
            <a:r>
              <a:rPr sz="1150" b="0" dirty="0">
                <a:solidFill>
                  <a:srgbClr val="4A5568"/>
                </a:solidFill>
                <a:latin typeface="IBM Plex Sans"/>
              </a:rPr>
              <a:t> 30–50 </a:t>
            </a:r>
            <a:r>
              <a:rPr sz="1150" b="0" dirty="0" err="1">
                <a:solidFill>
                  <a:srgbClr val="4A5568"/>
                </a:solidFill>
                <a:latin typeface="IBM Plex Sans"/>
              </a:rPr>
              <a:t>parcele</a:t>
            </a:r>
            <a:r>
              <a:rPr sz="1150" b="0" dirty="0">
                <a:solidFill>
                  <a:srgbClr val="4A5568"/>
                </a:solidFill>
                <a:latin typeface="IBM Plex Sans"/>
              </a:rPr>
              <a:t> cu </a:t>
            </a:r>
            <a:r>
              <a:rPr sz="1150" b="0" dirty="0" err="1">
                <a:solidFill>
                  <a:srgbClr val="4A5568"/>
                </a:solidFill>
                <a:latin typeface="IBM Plex Sans"/>
              </a:rPr>
              <a:t>cultură</a:t>
            </a:r>
            <a:r>
              <a:rPr sz="1150" b="0" dirty="0">
                <a:solidFill>
                  <a:srgbClr val="4A5568"/>
                </a:solidFill>
                <a:latin typeface="IBM Plex Sans"/>
              </a:rPr>
              <a:t> </a:t>
            </a:r>
            <a:r>
              <a:rPr sz="1150" b="0" dirty="0" err="1">
                <a:solidFill>
                  <a:srgbClr val="4A5568"/>
                </a:solidFill>
                <a:latin typeface="IBM Plex Sans"/>
              </a:rPr>
              <a:t>clară</a:t>
            </a:r>
            <a:r>
              <a:rPr sz="1150" b="0" dirty="0">
                <a:solidFill>
                  <a:srgbClr val="4A5568"/>
                </a:solidFill>
                <a:latin typeface="IBM Plex Sans"/>
              </a:rPr>
              <a:t>, </a:t>
            </a:r>
            <a:r>
              <a:rPr sz="1150" b="0" dirty="0" err="1">
                <a:solidFill>
                  <a:srgbClr val="4A5568"/>
                </a:solidFill>
                <a:latin typeface="IBM Plex Sans"/>
              </a:rPr>
              <a:t>după</a:t>
            </a:r>
            <a:r>
              <a:rPr sz="1150" b="0" dirty="0">
                <a:solidFill>
                  <a:srgbClr val="4A5568"/>
                </a:solidFill>
                <a:latin typeface="IBM Plex Sans"/>
              </a:rPr>
              <a:t> un protocol </a:t>
            </a:r>
            <a:r>
              <a:rPr sz="1150" b="0" dirty="0" err="1">
                <a:solidFill>
                  <a:srgbClr val="4A5568"/>
                </a:solidFill>
                <a:latin typeface="IBM Plex Sans"/>
              </a:rPr>
              <a:t>scris</a:t>
            </a:r>
            <a:r>
              <a:rPr sz="1150" b="0" dirty="0">
                <a:solidFill>
                  <a:srgbClr val="4A5568"/>
                </a:solidFill>
                <a:latin typeface="IBM Plex Sans"/>
              </a:rPr>
              <a:t>.</a:t>
            </a:r>
            <a:endParaRPr sz="1150" b="0" dirty="0">
              <a:solidFill>
                <a:srgbClr val="C8702A"/>
              </a:solidFill>
              <a:latin typeface="IBM Plex Sans"/>
            </a:endParaRPr>
          </a:p>
          <a:p>
            <a:pPr>
              <a:spcAft>
                <a:spcPts val="400"/>
              </a:spcAft>
            </a:pPr>
            <a:r>
              <a:rPr sz="1250" b="1" dirty="0">
                <a:solidFill>
                  <a:srgbClr val="1B2A41"/>
                </a:solidFill>
                <a:latin typeface="IBM Plex Sans"/>
              </a:rPr>
              <a:t>2. </a:t>
            </a:r>
            <a:r>
              <a:rPr sz="1250" b="1" dirty="0" err="1">
                <a:solidFill>
                  <a:srgbClr val="1B2A41"/>
                </a:solidFill>
                <a:latin typeface="IBM Plex Sans"/>
              </a:rPr>
              <a:t>Clasele</a:t>
            </a:r>
            <a:r>
              <a:rPr sz="1250" b="1" dirty="0">
                <a:solidFill>
                  <a:srgbClr val="1B2A41"/>
                </a:solidFill>
                <a:latin typeface="IBM Plex Sans"/>
              </a:rPr>
              <a:t> </a:t>
            </a:r>
            <a:r>
              <a:rPr sz="1250" b="1" dirty="0" err="1">
                <a:solidFill>
                  <a:srgbClr val="1B2A41"/>
                </a:solidFill>
                <a:latin typeface="IBM Plex Sans"/>
              </a:rPr>
              <a:t>și</a:t>
            </a:r>
            <a:r>
              <a:rPr sz="1250" b="1" dirty="0">
                <a:solidFill>
                  <a:srgbClr val="1B2A41"/>
                </a:solidFill>
                <a:latin typeface="IBM Plex Sans"/>
              </a:rPr>
              <a:t> </a:t>
            </a:r>
            <a:r>
              <a:rPr sz="1250" b="1" dirty="0" err="1">
                <a:solidFill>
                  <a:srgbClr val="1B2A41"/>
                </a:solidFill>
                <a:latin typeface="IBM Plex Sans"/>
              </a:rPr>
              <a:t>sezonul</a:t>
            </a:r>
            <a:r>
              <a:rPr sz="1250" b="1" dirty="0">
                <a:solidFill>
                  <a:srgbClr val="1B2A41"/>
                </a:solidFill>
                <a:latin typeface="IBM Plex Sans"/>
              </a:rPr>
              <a:t> </a:t>
            </a:r>
            <a:r>
              <a:rPr sz="1250" b="1" dirty="0" err="1">
                <a:solidFill>
                  <a:srgbClr val="1B2A41"/>
                </a:solidFill>
                <a:latin typeface="IBM Plex Sans"/>
              </a:rPr>
              <a:t>diferă</a:t>
            </a:r>
            <a:r>
              <a:rPr sz="1250" b="1" dirty="0">
                <a:solidFill>
                  <a:srgbClr val="1B2A41"/>
                </a:solidFill>
                <a:latin typeface="IBM Plex Sans"/>
              </a:rPr>
              <a:t>: </a:t>
            </a:r>
            <a:r>
              <a:rPr sz="1250" b="0" dirty="0">
                <a:solidFill>
                  <a:srgbClr val="4A5568"/>
                </a:solidFill>
                <a:latin typeface="IBM Plex Sans"/>
              </a:rPr>
              <a:t>18 </a:t>
            </a:r>
            <a:r>
              <a:rPr sz="1250" b="0" dirty="0" err="1">
                <a:solidFill>
                  <a:srgbClr val="4A5568"/>
                </a:solidFill>
                <a:latin typeface="IBM Plex Sans"/>
              </a:rPr>
              <a:t>culturi</a:t>
            </a:r>
            <a:r>
              <a:rPr sz="1250" b="0" dirty="0">
                <a:solidFill>
                  <a:srgbClr val="4A5568"/>
                </a:solidFill>
                <a:latin typeface="IBM Plex Sans"/>
              </a:rPr>
              <a:t> FR → 10 </a:t>
            </a:r>
            <a:r>
              <a:rPr sz="1250" b="0" dirty="0" err="1">
                <a:solidFill>
                  <a:srgbClr val="4A5568"/>
                </a:solidFill>
                <a:latin typeface="IBM Plex Sans"/>
              </a:rPr>
              <a:t>clase</a:t>
            </a:r>
            <a:r>
              <a:rPr sz="1250" b="0" dirty="0">
                <a:solidFill>
                  <a:srgbClr val="4A5568"/>
                </a:solidFill>
                <a:latin typeface="IBM Plex Sans"/>
              </a:rPr>
              <a:t> </a:t>
            </a:r>
            <a:r>
              <a:rPr sz="1250" b="0" dirty="0" err="1">
                <a:solidFill>
                  <a:srgbClr val="4A5568"/>
                </a:solidFill>
                <a:latin typeface="IBM Plex Sans"/>
              </a:rPr>
              <a:t>comune</a:t>
            </a:r>
            <a:r>
              <a:rPr sz="1250" b="0" dirty="0">
                <a:solidFill>
                  <a:srgbClr val="4A5568"/>
                </a:solidFill>
                <a:latin typeface="IBM Plex Sans"/>
              </a:rPr>
              <a:t>; FR 2018–19 vs. RO 2024.</a:t>
            </a:r>
          </a:p>
          <a:p>
            <a:pPr>
              <a:spcAft>
                <a:spcPts val="400"/>
              </a:spcAft>
            </a:pPr>
            <a:r>
              <a:rPr sz="1150" b="0" dirty="0">
                <a:solidFill>
                  <a:srgbClr val="4A5568"/>
                </a:solidFill>
                <a:latin typeface="IBM Plex Sans"/>
              </a:rPr>
              <a:t>→ </a:t>
            </a:r>
            <a:r>
              <a:rPr sz="1150" b="0" dirty="0" err="1">
                <a:solidFill>
                  <a:srgbClr val="4A5568"/>
                </a:solidFill>
                <a:latin typeface="IBM Plex Sans"/>
              </a:rPr>
              <a:t>Încerc</a:t>
            </a:r>
            <a:r>
              <a:rPr sz="1150" b="0" dirty="0">
                <a:solidFill>
                  <a:srgbClr val="4A5568"/>
                </a:solidFill>
                <a:latin typeface="IBM Plex Sans"/>
              </a:rPr>
              <a:t>: </a:t>
            </a:r>
            <a:r>
              <a:rPr sz="1150" b="0" dirty="0" err="1">
                <a:solidFill>
                  <a:srgbClr val="4A5568"/>
                </a:solidFill>
                <a:latin typeface="IBM Plex Sans"/>
              </a:rPr>
              <a:t>aliniere</a:t>
            </a:r>
            <a:r>
              <a:rPr sz="1150" b="0" dirty="0">
                <a:solidFill>
                  <a:srgbClr val="4A5568"/>
                </a:solidFill>
                <a:latin typeface="IBM Plex Sans"/>
              </a:rPr>
              <a:t> pe </a:t>
            </a:r>
            <a:r>
              <a:rPr sz="1150" b="0" dirty="0" err="1">
                <a:solidFill>
                  <a:srgbClr val="4A5568"/>
                </a:solidFill>
                <a:latin typeface="IBM Plex Sans"/>
              </a:rPr>
              <a:t>ziua</a:t>
            </a:r>
            <a:r>
              <a:rPr sz="1150" b="0" dirty="0">
                <a:solidFill>
                  <a:srgbClr val="4A5568"/>
                </a:solidFill>
                <a:latin typeface="IBM Plex Sans"/>
              </a:rPr>
              <a:t> din </a:t>
            </a:r>
            <a:r>
              <a:rPr sz="1150" b="0" dirty="0" err="1">
                <a:solidFill>
                  <a:srgbClr val="4A5568"/>
                </a:solidFill>
                <a:latin typeface="IBM Plex Sans"/>
              </a:rPr>
              <a:t>sezon</a:t>
            </a:r>
            <a:r>
              <a:rPr sz="1150" b="0" dirty="0">
                <a:solidFill>
                  <a:srgbClr val="4A5568"/>
                </a:solidFill>
                <a:latin typeface="IBM Plex Sans"/>
              </a:rPr>
              <a:t> (1 </a:t>
            </a:r>
            <a:r>
              <a:rPr sz="1150" b="0" dirty="0" err="1">
                <a:solidFill>
                  <a:srgbClr val="4A5568"/>
                </a:solidFill>
                <a:latin typeface="IBM Plex Sans"/>
              </a:rPr>
              <a:t>sep.</a:t>
            </a:r>
            <a:r>
              <a:rPr sz="1150" b="0" dirty="0">
                <a:solidFill>
                  <a:srgbClr val="4A5568"/>
                </a:solidFill>
                <a:latin typeface="IBM Plex Sans"/>
              </a:rPr>
              <a:t>), ca </a:t>
            </a:r>
            <a:r>
              <a:rPr sz="1150" b="0" dirty="0" err="1">
                <a:solidFill>
                  <a:srgbClr val="4A5568"/>
                </a:solidFill>
                <a:latin typeface="IBM Plex Sans"/>
              </a:rPr>
              <a:t>în</a:t>
            </a:r>
            <a:r>
              <a:rPr sz="1150" b="0" dirty="0">
                <a:solidFill>
                  <a:srgbClr val="4A5568"/>
                </a:solidFill>
                <a:latin typeface="IBM Plex Sans"/>
              </a:rPr>
              <a:t> </a:t>
            </a:r>
            <a:r>
              <a:rPr sz="1150" b="0" dirty="0" err="1">
                <a:solidFill>
                  <a:srgbClr val="4A5568"/>
                </a:solidFill>
                <a:latin typeface="IBM Plex Sans"/>
              </a:rPr>
              <a:t>figura</a:t>
            </a:r>
            <a:r>
              <a:rPr sz="1150" b="0" dirty="0">
                <a:solidFill>
                  <a:srgbClr val="4A5568"/>
                </a:solidFill>
                <a:latin typeface="IBM Plex Sans"/>
              </a:rPr>
              <a:t> de pe slide 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91640"/>
            <a:ext cx="5221224" cy="3383280"/>
          </a:xfrm>
          <a:prstGeom prst="roundRect">
            <a:avLst>
              <a:gd name="adj" fmla="val 2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874519"/>
            <a:ext cx="480060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D9A66C"/>
                </a:solidFill>
                <a:latin typeface="IBM Plex Sans"/>
              </a:rPr>
              <a:t>Planul pe 2 săptămâni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F6F4EE"/>
                </a:solidFill>
                <a:latin typeface="IBM Plex Sans"/>
              </a:rPr>
              <a:t>Săptămâna 5: </a:t>
            </a:r>
            <a:r>
              <a:rPr sz="1250" b="0">
                <a:solidFill>
                  <a:srgbClr val="F6F4EE"/>
                </a:solidFill>
                <a:latin typeface="IBM Plex Sans"/>
              </a:rPr>
              <a:t>reprezentarea A = serie S2 (10 benzi + NDVI) pe ziua din sezon; alternativa B = embeddings Presto. Export GEE pe zona RO.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F6F4EE"/>
                </a:solidFill>
                <a:latin typeface="IBM Plex Sans"/>
              </a:rPr>
              <a:t>Săptămâna 6: </a:t>
            </a:r>
            <a:r>
              <a:rPr sz="1250" b="0">
                <a:solidFill>
                  <a:srgbClr val="F6F4EE"/>
                </a:solidFill>
                <a:latin typeface="IBM Plex Sans"/>
              </a:rPr>
              <a:t>baseline Random Forest pe parcele + U-TAE pe fold-ul I; protocol cu fold-uri spațiale.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F6F4EE"/>
                </a:solidFill>
                <a:latin typeface="IBM Plex Sans"/>
              </a:rPr>
              <a:t>La CP2 arăt: </a:t>
            </a:r>
            <a:r>
              <a:rPr sz="1250" b="0">
                <a:solidFill>
                  <a:srgbClr val="F6F4EE"/>
                </a:solidFill>
                <a:latin typeface="IBM Plex Sans"/>
              </a:rPr>
              <a:t>tabelul A vs. B × RF / U-TAE, mIoU pe fold-ul de test + prima curbă NDVI RO vs. FR.</a:t>
            </a:r>
          </a:p>
          <a:p>
            <a:pPr>
              <a:spcAft>
                <a:spcPts val="0"/>
              </a:spcAft>
            </a:pPr>
            <a:r>
              <a:rPr sz="1250" b="1">
                <a:solidFill>
                  <a:srgbClr val="F6F4EE"/>
                </a:solidFill>
                <a:latin typeface="IBM Plex Sans"/>
              </a:rPr>
              <a:t>Secțiunea de articol: </a:t>
            </a:r>
            <a:r>
              <a:rPr sz="1250" b="0">
                <a:solidFill>
                  <a:srgbClr val="BFC9D9"/>
                </a:solidFill>
                <a:latin typeface="IBM Plex Sans"/>
              </a:rPr>
              <a:t>Related Work + Data (acum) → Methods (CP2).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A7179"/>
                </a:solidFill>
                <a:latin typeface="IBM Plex Sans"/>
              </a:rPr>
              <a:t>Slide 3 din 3 · Întrebare pentru profesor: acceptăm DACIA5 + parcele etichetate manual ca test pe România?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C3 — Șablon checkpoint (3 slide-uri)">
  <a:themeElements>
    <a:clrScheme name="IC3 — Șablon checkpoint (3 slide-uri)">
      <a:dk1>
        <a:srgbClr val="1B2A41"/>
      </a:dk1>
      <a:lt1>
        <a:srgbClr val="F6F4EE"/>
      </a:lt1>
      <a:dk2>
        <a:srgbClr val="525D6C"/>
      </a:dk2>
      <a:lt2>
        <a:srgbClr val="E0E0DD"/>
      </a:lt2>
      <a:accent1>
        <a:srgbClr val="C8702A"/>
      </a:accent1>
      <a:accent2>
        <a:srgbClr val="D9A66C"/>
      </a:accent2>
      <a:accent3>
        <a:srgbClr val="6A7179"/>
      </a:accent3>
      <a:accent4>
        <a:srgbClr val="4A5568"/>
      </a:accent4>
      <a:accent5>
        <a:srgbClr val="BFC9D9"/>
      </a:accent5>
      <a:accent6>
        <a:srgbClr val="9AA0A6"/>
      </a:accent6>
      <a:hlink>
        <a:srgbClr val="0563C1"/>
      </a:hlink>
      <a:folHlink>
        <a:srgbClr val="954F72"/>
      </a:folHlink>
    </a:clrScheme>
    <a:fontScheme name="IC3 — Șablon checkpoint (3 slide-uri)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1014</Words>
  <Application>Microsoft Office PowerPoint</Application>
  <PresentationFormat>Widescreen</PresentationFormat>
  <Paragraphs>124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IBM Plex Sans</vt:lpstr>
      <vt:lpstr>IC3 — Șablon checkpoint (3 slide-uri)</vt:lpstr>
      <vt:lpstr>David Gradea · A7 · AgriTwin — segmentare parcele PASTIS-R → RO</vt:lpstr>
      <vt:lpstr>S1+S2 aduce +3,2 mIoU pe PASTIS-R; fără adaptare, transferul pierde 19 pp F1</vt:lpstr>
      <vt:lpstr>Blocaje și următorii pași la CP2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IC3 — Șablon checkpoint (3 slide-uri)</dc:title>
  <dc:subject/>
  <dc:creator/>
  <cp:lastModifiedBy>David GRADEA (124949)</cp:lastModifiedBy>
  <cp:revision>5</cp:revision>
  <dcterms:created xsi:type="dcterms:W3CDTF">2026-10-05T11:39:29Z</dcterms:created>
  <dcterms:modified xsi:type="dcterms:W3CDTF">2026-10-27T19:36:20Z</dcterms:modified>
</cp:coreProperties>
</file>